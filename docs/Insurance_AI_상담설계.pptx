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69164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17904" y="17190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Insurance 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17904" y="198424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B0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Better decisions, clearly.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 보험 상담 AI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화면 설계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59536" y="443484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8FE3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10월 1일 오픈 · 1차 범위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59536" y="4956048"/>
            <a:ext cx="2011680" cy="0"/>
          </a:xfrm>
          <a:prstGeom prst="line">
            <a:avLst/>
          </a:prstGeom>
          <a:noFill/>
          <a:ln w="38100">
            <a:solidFill>
              <a:srgbClr val="14A0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517550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F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아이에프에이 AX팀 · 2026.08.14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 요약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1일에 무엇이 열리는가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7주 안에 만들 수 있는 범위로 잘랐습니다.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2615184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8105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" y="206654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약관은 서로 90%가 닮았다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2596896"/>
            <a:ext cx="21945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섞어놓고 찾으면 아무거나 집어옵니다. 검색은 「모르겠다」를 못 해서 틀려도 티가 나지 않습니다.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4136" y="1664208"/>
            <a:ext cx="2615184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8105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93592" y="206654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찾기 전에 정확한 상품을 짚어낸다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93592" y="2596896"/>
            <a:ext cx="21945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보험사 → 상품 → 약관 시점으로 그 계약의 약관을 정확히 짚고, 그 안에서만 찾습니다.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9632" y="1664208"/>
            <a:ext cx="2615184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8105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19088" y="206654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면책이 먼저, 근거는 조항으로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9088" y="2596896"/>
            <a:ext cx="21945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면책을 먼저 판정하고, 어느 약관 몇 조인지를 항상 붙입니다.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25128" y="1664208"/>
            <a:ext cx="2615184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44584" y="18105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44584" y="206654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선배에게 묻던 것을 대체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44584" y="2596896"/>
            <a:ext cx="21945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· 같은 기준 · 근거 제시. 쓸수록 고객별 약관이 쌓입니다.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1330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· 10월 1일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148840" y="4133088"/>
            <a:ext cx="1577340" cy="347472"/>
          </a:xfrm>
          <a:prstGeom prst="roundRect">
            <a:avLst>
              <a:gd name="adj" fmla="val 50000"/>
            </a:avLst>
          </a:prstGeom>
          <a:solidFill>
            <a:srgbClr val="F3FAF6"/>
          </a:solidFill>
          <a:ln w="12700">
            <a:solidFill>
              <a:srgbClr val="CFE9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4133088"/>
            <a:ext cx="15773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약관 스코프 확정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54196" y="4133088"/>
            <a:ext cx="1842516" cy="347472"/>
          </a:xfrm>
          <a:prstGeom prst="roundRect">
            <a:avLst>
              <a:gd name="adj" fmla="val 50000"/>
            </a:avLst>
          </a:prstGeom>
          <a:solidFill>
            <a:srgbClr val="F3FAF6"/>
          </a:solidFill>
          <a:ln w="12700">
            <a:solidFill>
              <a:srgbClr val="CFE9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54196" y="4133088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면책 우선 보상 답변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24728" y="4133088"/>
            <a:ext cx="1577340" cy="347472"/>
          </a:xfrm>
          <a:prstGeom prst="roundRect">
            <a:avLst>
              <a:gd name="adj" fmla="val 50000"/>
            </a:avLst>
          </a:prstGeom>
          <a:solidFill>
            <a:srgbClr val="F3FAF6"/>
          </a:solidFill>
          <a:ln w="12700">
            <a:solidFill>
              <a:srgbClr val="CFE9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24728" y="4133088"/>
            <a:ext cx="15773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약관북 · 보장맵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30084" y="4133088"/>
            <a:ext cx="1975104" cy="347472"/>
          </a:xfrm>
          <a:prstGeom prst="roundRect">
            <a:avLst>
              <a:gd name="adj" fmla="val 50000"/>
            </a:avLst>
          </a:prstGeom>
          <a:solidFill>
            <a:srgbClr val="F3FAF6"/>
          </a:solidFill>
          <a:ln w="12700">
            <a:solidFill>
              <a:srgbClr val="CFE9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30084" y="4133088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미등록 약관 확보 요청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45902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148840" y="4590288"/>
            <a:ext cx="1709928" cy="347472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4590288"/>
            <a:ext cx="1709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Data 연동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86784" y="4590288"/>
            <a:ext cx="1312164" cy="347472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86784" y="4590288"/>
            <a:ext cx="13121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 결합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26964" y="4590288"/>
            <a:ext cx="1975104" cy="347472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26964" y="4590288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금액 답변 (초개인화)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138928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3FAF6"/>
          </a:solidFill>
          <a:ln w="12700">
            <a:solidFill>
              <a:srgbClr val="CFE9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248656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1차에서 금액은 말하지 않습니다.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담보와 가입금액이 있어야 하고, 그건 2차입니다.
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등록도 필수가 아닙니다.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건만 확인하고 끝낼 수 있어야 도구가 실제로 쓰입니다.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384280" y="63550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「약관을 넣어두면 답한다」가 약관에서는 안 됩니다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65836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560320"/>
                <a:gridCol w="15544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867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종류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867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문서끼리 얼마나 다른가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867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넣어두면?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규정 · 매뉴얼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2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각자 완전히 다름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7C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 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뉴스 · 리포트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2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주제가 전부 다름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7C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 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계약서 (건별)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2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당사자 · 금액이 다름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7C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대체로 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11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 매뉴얼 (모델별)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52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일부 겹침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A7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9422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보험 약관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9422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서로 80~90% 동일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9422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 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481328"/>
            <a:ext cx="4206240" cy="2212848"/>
          </a:xfrm>
          <a:prstGeom prst="roundRect">
            <a:avLst>
              <a:gd name="adj" fmla="val 3719"/>
            </a:avLst>
          </a:prstGeom>
          <a:solidFill>
            <a:srgbClr val="FBF0ED"/>
          </a:solidFill>
          <a:ln w="12700">
            <a:solidFill>
              <a:srgbClr val="F0D5C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44384" y="16642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42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검색은 「모르겠다」를 못 합니다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644384" y="210312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후보를 점수순으로 내놓게 되어 있어 100권이 다 닮아도 1등은 반드시 나옵니다. 그 1등으로 「상해 9급, 50만원」이라고 자신 있게 답합니다.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틀렸을 때 틀렸다는 신호가 남지 않습니다.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968496"/>
            <a:ext cx="110642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151376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사람에게 같은 조건을 주면 사람도 못 합니다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553712"/>
            <a:ext cx="105156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표지를 떼고, 본문에서 상품명을 지우고, 페이지를 찢어 섞은 뒤 「계단에서 굴러 골절됐는데 보장돼요?」라고 물으면 30년 차도 못 맞춥니다.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능력의 문제가 아니라 조건의 문제입니다 — 조건을 바꾸면 됩니다.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384280" y="63550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하던 순서를 그대로 시킵니다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발명하는 것이 아닙니다.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00784"/>
            <a:ext cx="73152" cy="932688"/>
          </a:xfrm>
          <a:prstGeom prst="roundRect">
            <a:avLst>
              <a:gd name="adj" fmla="val 37500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4708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83664" y="181965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약관인지 짚어낸다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83664" y="2185416"/>
            <a:ext cx="9418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추측하지 않습니다. 사용자가 고르거나 계약 정보로 정해집니다.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79776"/>
            <a:ext cx="73152" cy="932688"/>
          </a:xfrm>
          <a:prstGeom prst="roundRect">
            <a:avLst>
              <a:gd name="adj" fmla="val 37500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9260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83664" y="289864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짚어낸 약관 한 권만 펼친다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83664" y="3264408"/>
            <a:ext cx="9418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1권 안에서만 찾습니다. 밖의 조항은 점수가 높아도 버립니다.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858768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58768"/>
            <a:ext cx="73152" cy="932688"/>
          </a:xfrm>
          <a:prstGeom prst="roundRect">
            <a:avLst>
              <a:gd name="adj" fmla="val 37500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00507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883664" y="39776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순서로 확인한다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83664" y="4343400"/>
            <a:ext cx="9418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담보 → 지급사유 → 등급 → 금액 → 면책 → 대기기간 → 한도 → 결론. 8칸을 매번 채웁니다.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937760"/>
            <a:ext cx="73152" cy="932688"/>
          </a:xfrm>
          <a:prstGeom prst="roundRect">
            <a:avLst>
              <a:gd name="adj" fmla="val 37500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508406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883664" y="505663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근거와 함께 답한다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83664" y="5422392"/>
            <a:ext cx="9418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「제5조 제2항에 따라 …」 못 찾은 항목은 「해당 조항 없음」으로 밝힙니다.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단계가 각각 요구사항 IA-FUN-001 · IA-AI-002 · IA-FUN-004 · IA-AI-001에 대응합니다.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384280" y="63550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약관을 검색하는 도구가 아니라, 고객의 보장을 아는 도구입니다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약관을 물어보면 답하는 AI는 이미 있습니다. 우리가 다른 지점은 「단위」입니다.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60520" y="1627632"/>
            <a:ext cx="3566160" cy="420624"/>
          </a:xfrm>
          <a:prstGeom prst="roundRect">
            <a:avLst>
              <a:gd name="adj" fmla="val 15217"/>
            </a:avLst>
          </a:prstGeom>
          <a:solidFill>
            <a:srgbClr val="F2F4F3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60520" y="162763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약관 Q&amp;A 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63840" y="1627632"/>
            <a:ext cx="3749040" cy="420624"/>
          </a:xfrm>
          <a:prstGeom prst="roundRect">
            <a:avLst>
              <a:gd name="adj" fmla="val 15217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62763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Insurance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3969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묻는 단위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60520" y="2139696"/>
            <a:ext cx="3566160" cy="548640"/>
          </a:xfrm>
          <a:prstGeom prst="roundRect">
            <a:avLst>
              <a:gd name="adj" fmla="val 15000"/>
            </a:avLst>
          </a:prstGeom>
          <a:solidFill>
            <a:srgbClr val="F8F9F8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13969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한 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2139696"/>
            <a:ext cx="3749040" cy="548640"/>
          </a:xfrm>
          <a:prstGeom prst="roundRect">
            <a:avLst>
              <a:gd name="adj" fmla="val 15000"/>
            </a:avLst>
          </a:prstGeom>
          <a:solidFill>
            <a:srgbClr val="F3FAF6"/>
          </a:solidFill>
          <a:ln w="12700">
            <a:solidFill>
              <a:srgbClr val="CFE9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13969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한 명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279806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형태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60520" y="2798064"/>
            <a:ext cx="3566160" cy="548640"/>
          </a:xfrm>
          <a:prstGeom prst="roundRect">
            <a:avLst>
              <a:gd name="adj" fmla="val 15000"/>
            </a:avLst>
          </a:prstGeom>
          <a:solidFill>
            <a:srgbClr val="F8F9F8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79806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「이 약관에 음주 면책 있나요」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63840" y="2798064"/>
            <a:ext cx="3749040" cy="548640"/>
          </a:xfrm>
          <a:prstGeom prst="roundRect">
            <a:avLst>
              <a:gd name="adj" fmla="val 15000"/>
            </a:avLst>
          </a:prstGeom>
          <a:solidFill>
            <a:srgbClr val="F3FAF6"/>
          </a:solidFill>
          <a:ln w="12700">
            <a:solidFill>
              <a:srgbClr val="CFE9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279806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「차승희 고객, 골절되면 어디서 나와요」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45643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찾는 범위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60520" y="3456432"/>
            <a:ext cx="3566160" cy="548640"/>
          </a:xfrm>
          <a:prstGeom prst="roundRect">
            <a:avLst>
              <a:gd name="adj" fmla="val 15000"/>
            </a:avLst>
          </a:prstGeom>
          <a:solidFill>
            <a:srgbClr val="F8F9F8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34564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물어본 약관 1건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863840" y="3456432"/>
            <a:ext cx="3749040" cy="548640"/>
          </a:xfrm>
          <a:prstGeom prst="roundRect">
            <a:avLst>
              <a:gd name="adj" fmla="val 15000"/>
            </a:avLst>
          </a:prstGeom>
          <a:solidFill>
            <a:srgbClr val="F3FAF6"/>
          </a:solidFill>
          <a:ln w="12700">
            <a:solidFill>
              <a:srgbClr val="CFE9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345643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고객이 가입한 계약 전부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114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물을 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60520" y="4114800"/>
            <a:ext cx="3566160" cy="548640"/>
          </a:xfrm>
          <a:prstGeom prst="roundRect">
            <a:avLst>
              <a:gd name="adj" fmla="val 15000"/>
            </a:avLst>
          </a:prstGeom>
          <a:solidFill>
            <a:srgbClr val="F8F9F8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4114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약관을 매번 다시 특정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63840" y="4114800"/>
            <a:ext cx="3749040" cy="548640"/>
          </a:xfrm>
          <a:prstGeom prst="roundRect">
            <a:avLst>
              <a:gd name="adj" fmla="val 15000"/>
            </a:avLst>
          </a:prstGeom>
          <a:solidFill>
            <a:srgbClr val="F3FAF6"/>
          </a:solidFill>
          <a:ln w="12700">
            <a:solidFill>
              <a:srgbClr val="CFE9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4114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폴더를 열면 끝 — 쌓일수록 빨라짐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47731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놓치는 것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60520" y="4773168"/>
            <a:ext cx="3566160" cy="548640"/>
          </a:xfrm>
          <a:prstGeom prst="roundRect">
            <a:avLst>
              <a:gd name="adj" fmla="val 15000"/>
            </a:avLst>
          </a:prstGeom>
          <a:solidFill>
            <a:srgbClr val="F8F9F8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477316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계약에 있는 같은 담보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863840" y="4773168"/>
            <a:ext cx="3749040" cy="548640"/>
          </a:xfrm>
          <a:prstGeom prst="roundRect">
            <a:avLst>
              <a:gd name="adj" fmla="val 15000"/>
            </a:avLst>
          </a:prstGeom>
          <a:solidFill>
            <a:srgbClr val="F3FAF6"/>
          </a:solidFill>
          <a:ln w="12700">
            <a:solidFill>
              <a:srgbClr val="CFE9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0" y="47731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계약에 걸친 담보를 함께 제시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541264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14201B"/>
          </a:solidFill>
          <a:ln w="12700">
            <a:solidFill>
              <a:srgbClr val="1420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54126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고객별로 약관을 넣어두면, 그 고객의 정확한 보장을 언제든 물어볼 수 있습니다.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1384280" y="63550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구조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스코프를 좁히는 수단을 단계적으로 늘려갑니다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다 만들지 않습니다. 각 단계는 그 자체로 쓸모가 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1296" cy="457200"/>
          </a:xfrm>
          <a:prstGeom prst="roundRect">
            <a:avLst>
              <a:gd name="adj" fmla="val 16000"/>
            </a:avLst>
          </a:prstGeom>
          <a:solidFill>
            <a:srgbClr val="0B7C44"/>
          </a:solidFill>
          <a:ln w="12700">
            <a:solidFill>
              <a:srgbClr val="0B7C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71216" y="1837944"/>
            <a:ext cx="104241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71216" y="1837944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· 10/1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511296" cy="2286000"/>
          </a:xfrm>
          <a:prstGeom prst="roundRect">
            <a:avLst>
              <a:gd name="adj" fmla="val 3600"/>
            </a:avLst>
          </a:prstGeom>
          <a:solidFill>
            <a:srgbClr val="F3FAF6"/>
          </a:solidFill>
          <a:ln w="12700">
            <a:solidFill>
              <a:srgbClr val="CFE9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359152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설계사 직접 선택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" y="2688336"/>
            <a:ext cx="3035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보험사 → 상품 → 약관 시점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" y="3200400"/>
            <a:ext cx="3035808" cy="0"/>
          </a:xfrm>
          <a:prstGeom prst="line">
            <a:avLst/>
          </a:prstGeom>
          <a:noFill/>
          <a:ln w="12700">
            <a:solidFill>
              <a:srgbClr val="CFE9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3284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83664" y="332841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1권 확정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" y="37124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가능해지는 것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83664" y="371246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조항 조회 · 면책 확인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6384" y="40965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83664" y="409651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2~3번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87368" y="315468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25112" y="1737360"/>
            <a:ext cx="3511296" cy="457200"/>
          </a:xfrm>
          <a:prstGeom prst="roundRect">
            <a:avLst>
              <a:gd name="adj" fmla="val 16000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5112" y="173736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47688" y="1837944"/>
            <a:ext cx="104241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1837944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25112" y="2194560"/>
            <a:ext cx="3511296" cy="2286000"/>
          </a:xfrm>
          <a:prstGeom prst="roundRect">
            <a:avLst>
              <a:gd name="adj" fmla="val 3600"/>
            </a:avLst>
          </a:prstGeom>
          <a:solidFill>
            <a:srgbClr val="EFF4FD"/>
          </a:solidFill>
          <a:ln w="12700">
            <a:solidFill>
              <a:srgbClr val="CFDC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62856" y="2359152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My Data 연동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62856" y="2688336"/>
            <a:ext cx="3035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증권 · 상품코드 · 계약일자 자동 조회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62856" y="3200400"/>
            <a:ext cx="3035808" cy="0"/>
          </a:xfrm>
          <a:prstGeom prst="line">
            <a:avLst/>
          </a:prstGeom>
          <a:noFill/>
          <a:ln w="12700">
            <a:solidFill>
              <a:srgbClr val="CFDC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62856" y="33284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0136" y="332841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약관이 자동 확정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62856" y="37124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가능해지는 것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0136" y="371246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「내 보험」 기준 답변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62856" y="40965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0136" y="409651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0회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3840" y="315468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01584" y="1737360"/>
            <a:ext cx="3511296" cy="457200"/>
          </a:xfrm>
          <a:prstGeom prst="roundRect">
            <a:avLst>
              <a:gd name="adj" fmla="val 16000"/>
            </a:avLst>
          </a:prstGeom>
          <a:solidFill>
            <a:srgbClr val="9A7420"/>
          </a:solidFill>
          <a:ln w="12700">
            <a:solidFill>
              <a:srgbClr val="9A74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01584" y="173736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424160" y="1837944"/>
            <a:ext cx="104241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24160" y="1837944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01584" y="2194560"/>
            <a:ext cx="3511296" cy="2286000"/>
          </a:xfrm>
          <a:prstGeom prst="roundRect">
            <a:avLst>
              <a:gd name="adj" fmla="val 3600"/>
            </a:avLst>
          </a:prstGeom>
          <a:solidFill>
            <a:srgbClr val="FBF5E4"/>
          </a:solidFill>
          <a:ln w="12700">
            <a:solidFill>
              <a:srgbClr val="EADF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39328" y="2359152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 결합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39328" y="2688336"/>
            <a:ext cx="3035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담보 · 특약 단위 보장 데이터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339328" y="3200400"/>
            <a:ext cx="3035808" cy="0"/>
          </a:xfrm>
          <a:prstGeom prst="line">
            <a:avLst/>
          </a:prstGeom>
          <a:noFill/>
          <a:ln w="12700">
            <a:solidFill>
              <a:srgbClr val="EADF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39328" y="33284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436608" y="332841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담보 · 보장금액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339328" y="37124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가능해지는 것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436608" y="3712464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보장공백 · 비교 · 즉답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339328" y="40965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436608" y="409651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4645152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FF4FD"/>
          </a:solidFill>
          <a:ln w="12700">
            <a:solidFill>
              <a:srgbClr val="CFDC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" y="475488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F6F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3에 오면 질문의 상당수가 약관 검색을 아예 타지 않습니다.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「얼마 나와요?」는 보장 데이터로 즉답되고, 약관은 「왜 그런가 · 면책은 없나」를 볼 때만 펼칩니다.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문제를 푸는 대신 — 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애초에 그 문제를 만나는 횟수를 줄이는 구조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48640" y="5705856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14201B"/>
          </a:solidFill>
          <a:ln w="12700">
            <a:solidFill>
              <a:srgbClr val="14201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5705856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1만 해도 지금보다 낫고, 뒤 단계가 늦어져도 서비스는 그대로 돕니다.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1384280" y="63550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① 일반 답변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일반으로 답하고, 개인화는 고르게 합니다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700784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「골절되면 보상되나요?」는 일반지식만으로 답이 나옵니다. 그 답으로 충분한 경우가 많습니다.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2688336"/>
            <a:ext cx="64008" cy="969264"/>
          </a:xfrm>
          <a:prstGeom prst="roundRect">
            <a:avLst>
              <a:gd name="adj" fmla="val 42857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70662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답변은 실패가 아니다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999232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「이 답변으로 충분해요」를 같은 무게로 둡니다.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3858768"/>
            <a:ext cx="64008" cy="969264"/>
          </a:xfrm>
          <a:prstGeom prst="roundRect">
            <a:avLst>
              <a:gd name="adj" fmla="val 42857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8770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입구는 약관이지 고객이 아니다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4169664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상품을 고르면 그 약관 기준으로 답이 바뀝니다.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5029200"/>
            <a:ext cx="64008" cy="969264"/>
          </a:xfrm>
          <a:prstGeom prst="roundRect">
            <a:avLst>
              <a:gd name="adj" fmla="val 42857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50474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금액은 말하지 않는다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5340096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담보 · 지급 조건 · 면책은 상품과 판마다 다릅니다.</a:t>
            </a:r>
            <a:endParaRPr lang="en-US" sz="1000" dirty="0"/>
          </a:p>
        </p:txBody>
      </p:sp>
      <p:pic>
        <p:nvPicPr>
          <p:cNvPr id="14" name="Image 0" descr="/tmp/claude-0/-home-user-chacha6377/ca7f6080-cf3a-5093-8a0d-eb3bfdb80785/scratchpad/app_branch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738569"/>
            <a:ext cx="7726680" cy="534428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384280" y="63550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② 약관 스코프 확정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찾기 전에 정확한 상품을 짚어냅니다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700784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보험사는 치거나 눌러 고르고, 상품은 검색으로 매칭합니다. 약관 시점까지 정해져야 검색이 열립니다.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2688336"/>
            <a:ext cx="64008" cy="969264"/>
          </a:xfrm>
          <a:prstGeom prst="roundRect">
            <a:avLst>
              <a:gd name="adj" fmla="val 42857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70662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보종은 묻지 않는다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999232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상품명을 이미 알고 있으니 검색이 더 빠릅니다.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3858768"/>
            <a:ext cx="64008" cy="969264"/>
          </a:xfrm>
          <a:prstGeom prst="roundRect">
            <a:avLst>
              <a:gd name="adj" fmla="val 42857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8770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겹치는 상품을 함께 본다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4169664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「참좋은동행」과 「동행Ⅱ」는 다른 약관입니다.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5029200"/>
            <a:ext cx="64008" cy="969264"/>
          </a:xfrm>
          <a:prstGeom prst="roundRect">
            <a:avLst>
              <a:gd name="adj" fmla="val 42857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50474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실손은 판이 아니라 세대로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5340096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1~4세대가 보상 갈래를 정합니다. 약관 150건이 필요 없습니다.</a:t>
            </a:r>
            <a:endParaRPr lang="en-US" sz="1000" dirty="0"/>
          </a:p>
        </p:txBody>
      </p:sp>
      <p:pic>
        <p:nvPicPr>
          <p:cNvPr id="14" name="Image 0" descr="/tmp/claude-0/-home-user-chacha6377/ca7f6080-cf3a-5093-8a0d-eb3bfdb80785/scratchpad/app_scope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7220" y="384048"/>
            <a:ext cx="7250399" cy="605332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384280" y="63550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③ 답변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면책을 먼저 판정하고 조항으로 근거를 답니다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700784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만들지 않고 그냥 묻는 경로입니다. 대부분의 상담이 여기서 끝납니다.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2688336"/>
            <a:ext cx="64008" cy="969264"/>
          </a:xfrm>
          <a:prstGeom prst="roundRect">
            <a:avLst>
              <a:gd name="adj" fmla="val 42857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70662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면책이 먼저다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999232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지급사유를 먼저 보이면 아래 면책은 읽히지 않습니다.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3858768"/>
            <a:ext cx="64008" cy="969264"/>
          </a:xfrm>
          <a:prstGeom prst="roundRect">
            <a:avLst>
              <a:gd name="adj" fmla="val 42857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8770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조항으로 제시한다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4169664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제5조 1항 6호까지 짚어야 고객에게 읽어줄 수 있습니다.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5029200"/>
            <a:ext cx="64008" cy="969264"/>
          </a:xfrm>
          <a:prstGeom prst="roundRect">
            <a:avLst>
              <a:gd name="adj" fmla="val 42857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50474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약관인지 항상 보인다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5340096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보이면 틀려도 알아챌 수 없습니다.</a:t>
            </a:r>
            <a:endParaRPr lang="en-US" sz="1000" dirty="0"/>
          </a:p>
        </p:txBody>
      </p:sp>
      <p:pic>
        <p:nvPicPr>
          <p:cNvPr id="14" name="Image 0" descr="/tmp/claude-0/-home-user-chacha6377/ca7f6080-cf3a-5093-8a0d-eb3bfdb80785/scratchpad/app_ask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1168" y="384048"/>
            <a:ext cx="7082504" cy="605332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384280" y="63550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④ 약관북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폴더를 열면 질문 범위가 그 고객으로 잠깁니다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700784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화면이 차별점의 실체입니다. 상담할수록 고객별 약관이 쌓입니다.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2688336"/>
            <a:ext cx="64008" cy="969264"/>
          </a:xfrm>
          <a:prstGeom prst="roundRect">
            <a:avLst>
              <a:gd name="adj" fmla="val 42857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70662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폴더가 곧 검색 범위다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999232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고객 약관 4건 안에서만 찾습니다.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3858768"/>
            <a:ext cx="64008" cy="969264"/>
          </a:xfrm>
          <a:prstGeom prst="roundRect">
            <a:avLst>
              <a:gd name="adj" fmla="val 42857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8770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청구 누락을 잡는다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4169664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담보가 여러 계약에 걸치면 모두 보여줍니다.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5029200"/>
            <a:ext cx="64008" cy="969264"/>
          </a:xfrm>
          <a:prstGeom prst="roundRect">
            <a:avLst>
              <a:gd name="adj" fmla="val 42857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50474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답할 수 있는 수를 밝힌다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5340096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약관이 2건뿐이면 「답할 수 있는 건 2건」이라고 씁니다.</a:t>
            </a:r>
            <a:endParaRPr lang="en-US" sz="1000" dirty="0"/>
          </a:p>
        </p:txBody>
      </p:sp>
      <p:pic>
        <p:nvPicPr>
          <p:cNvPr id="14" name="Image 0" descr="/tmp/claude-0/-home-user-chacha6377/ca7f6080-cf3a-5093-8a0d-eb3bfdb80785/scratchpad/app_entry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283863"/>
            <a:ext cx="7726680" cy="42536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384280" y="63550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⑤ 약관 등록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하나씩 넣습니다. My Data가 열리면 한 번에 들어옵니다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700784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경로를 빠른 순으로 놓되, 아직 안 열린 것은 두되 잠급니다.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2688336"/>
            <a:ext cx="64008" cy="969264"/>
          </a:xfrm>
          <a:prstGeom prst="roundRect">
            <a:avLst>
              <a:gd name="adj" fmla="val 42857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70662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열린 길도 보여준다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999232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 열릴 경로가 있다는 사실 자체가 안내입니다.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3858768"/>
            <a:ext cx="64008" cy="969264"/>
          </a:xfrm>
          <a:prstGeom prst="roundRect">
            <a:avLst>
              <a:gd name="adj" fmla="val 42857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8770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말한 상품은 다시 안 찾는다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4169664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가장 빠른 길입니다.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5029200"/>
            <a:ext cx="64008" cy="969264"/>
          </a:xfrm>
          <a:prstGeom prst="roundRect">
            <a:avLst>
              <a:gd name="adj" fmla="val 42857"/>
            </a:avLst>
          </a:prstGeom>
          <a:solidFill>
            <a:srgbClr val="14A05A"/>
          </a:solidFill>
          <a:ln w="12700">
            <a:solidFill>
              <a:srgbClr val="14A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50474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「최근 등록한 상품」은 뺐다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5340096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고객 계약을 끌어오게 됩니다.</a:t>
            </a:r>
            <a:endParaRPr lang="en-US" sz="1000" dirty="0"/>
          </a:p>
        </p:txBody>
      </p:sp>
      <p:pic>
        <p:nvPicPr>
          <p:cNvPr id="14" name="Image 0" descr="/tmp/claude-0/-home-user-chacha6377/ca7f6080-cf3a-5093-8a0d-eb3bfdb80785/scratchpad/app_register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283863"/>
            <a:ext cx="7726680" cy="42536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384280" y="63550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약관은 사야 합니다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벤더에 등록해야 검색되고, 등록은 유료입니다. 단가는 아직 미확정입니다.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BF5E4"/>
          </a:solidFill>
          <a:ln w="12700">
            <a:solidFill>
              <a:srgbClr val="EAD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9222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7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과금 단위는 약관 파일 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2176272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하나가 파일 하나가 아닙니다. 보장형태 × 납입방법 × 개정으로 갈립니다.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배수가 6이면 200건에 손보 상품이 4개만 들어갑니다.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27632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179222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부담하나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35424" y="2176272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판매 중인 약관 200개로 시작하고, 그 밖은 요청한 FA가 부담합니다.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 미확정이라 지금은 금액을 띄우지 않고 요청 의사만 받습니다.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627632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3FAF6"/>
          </a:solidFill>
          <a:ln w="12700">
            <a:solidFill>
              <a:srgbClr val="CFE9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179222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살 것인가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84464" y="2176272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실적 상위 상품을 사면 「영업용 약관」을 삽니다. 보상 질문은 이미 가입한 계약에서 나옵니다.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계약을 집계해 실제 조회될 약관부터 사야 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8FAF9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9651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실손은 예외입니다 — 파일 대비 효율이 가장 좋습니다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443984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개정분까지 세면 150건이 넘지만, 실손은 1~4세대 표준약관으로 갈리고 보상 판정의 갈래도 세대가 정합니다.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세대 대표 약관만 사도 대부분의 질문을 덮습니다. 다만 갱신 · 전환으로 세대가 바뀌므로 「가입 시점」이 아니라 「지금 적용 중인 세대」를 물어야 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504688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4201B"/>
          </a:solidFill>
          <a:ln w="12700">
            <a:solidFill>
              <a:srgbClr val="1420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50468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 · 상품당 파일 배수 · 판매종료 상품 색인 가능 여부 — 이 셋이 정해져야 예산 계획이 섭니다.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84280" y="63550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판정과 지표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되면 열지 않고, 무엇으로 성공을 볼 것인가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0" cy="3200400"/>
          </a:xfrm>
          <a:prstGeom prst="roundRect">
            <a:avLst>
              <a:gd name="adj" fmla="val 2571"/>
            </a:avLst>
          </a:prstGeom>
          <a:solidFill>
            <a:srgbClr val="FBF0ED"/>
          </a:solidFill>
          <a:ln w="12700">
            <a:solidFill>
              <a:srgbClr val="F0D5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373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42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열지 못하는 조건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하나라도 걸리면 연기합니다.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" y="2340864"/>
            <a:ext cx="4892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확정된 약관 밖의 조항을 인용한 답변이 나온다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골든셋에서 면책 조항을 놓치는 답변이 나온다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조항이 없는데 그럴듯한 답을 만든다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약관으로 답했는지 화면에 없다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만들지 않으면 질문을 못 한다</a:t>
            </a:r>
            <a:endParaRPr lang="en-US" sz="11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담당하지 않는 고객의 자료가 조회된다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572768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7373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볼 것인가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73952" y="2029968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열고 나서 매주 봅니다.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73952" y="23408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스코프 밖 반환율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796528" y="234086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벤더 색인 · 필터 품질의 직접 지표. 가장 먼저 봅니다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73952" y="29077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「해당 조항 없음」 비율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796528" y="29077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색인 누락인지 하한이 과한지 가릅니다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73952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미등록 비율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96528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없음으로 끝난 비율 — 등록 예산 증액 근거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73952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되묻기 이탈률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96528" y="40416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되물었는데 답하지 않고 나간 비율 — 과하면 도구가 안 쓰입니다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956048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4201B"/>
          </a:solidFill>
          <a:ln w="12700">
            <a:solidFill>
              <a:srgbClr val="1420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95604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 기준 — 스코프 밖 인용 0건 · 면책 재현율 100% · 약관 시점 일치율 100% · 특약 오귀속 0건 · 1차 금액 언급 0건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687568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F3FAF6"/>
          </a:solidFill>
          <a:ln w="12700">
            <a:solidFill>
              <a:srgbClr val="CFE9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742432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— </a:t>
            </a:r>
            <a:pPr indent="0" marL="0">
              <a:buNone/>
            </a:pPr>
            <a:r>
              <a:rPr lang="en-US" sz="105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기본법(2026.1 시행)에서 금융은 고영향 AI로 거론되지만, 이 서비스는 권리 · 의무를 결정하지 않고 FA를 보조합니다. 금융분야 AI 가이드라인의 「보조수단성」에 맞춰 최종 판단자가 사람임을 화면과 로그에 남깁니다.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384280" y="63550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확인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 즉시 확인해야 할 것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늦게 확인할수록 되돌리기 어렵습니다.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11064240" cy="493776"/>
          </a:xfrm>
          <a:prstGeom prst="roundRect">
            <a:avLst>
              <a:gd name="adj" fmla="val 1296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64208"/>
            <a:ext cx="310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42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664208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종료 상품 색인 가능 여부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664208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불가하면 보상용 약관을 살 수 없습니다. 기획 전제가 무너집니다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716768" y="17739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16768" y="177393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벤더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231136"/>
            <a:ext cx="110642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31136"/>
            <a:ext cx="310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42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2231136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· 약관 시점 필터 지원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231136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스코프를 확정해도 벤더가 100권을 뒤지게 됩니다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716768" y="234086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16768" y="234086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798064"/>
            <a:ext cx="11064240" cy="493776"/>
          </a:xfrm>
          <a:prstGeom prst="roundRect">
            <a:avLst>
              <a:gd name="adj" fmla="val 1296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798064"/>
            <a:ext cx="310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7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2798064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파일 단가와 과금 단위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798064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건당 / 용량 / 정액 중 무엇인지에 따라 등록 전략이 달라집니다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716768" y="290779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16768" y="290779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364992"/>
            <a:ext cx="110642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364992"/>
            <a:ext cx="310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7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5568" y="3364992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상품당 파일 수(배수)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364992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배수 6이면 200건에 손보 상품이 4개만 들어갑니다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716768" y="34747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16768" y="347472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벤더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11064240" cy="493776"/>
          </a:xfrm>
          <a:prstGeom prst="roundRect">
            <a:avLst>
              <a:gd name="adj" fmla="val 1296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931920"/>
            <a:ext cx="310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7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15568" y="3931920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청크 · 유사도 점수 반환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3931920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 조항 제시와 하한 차단이 불가능합니다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716768" y="404164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16768" y="404164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벤더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4498848"/>
            <a:ext cx="110642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4498848"/>
            <a:ext cx="310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15568" y="4498848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오픈 종목 확정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37760" y="4498848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운전자 단독 또는 실손 포함 — 실손은 파일 대비 효율이 가장 좋습니다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716768" y="460857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16768" y="460857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5065776"/>
            <a:ext cx="11064240" cy="493776"/>
          </a:xfrm>
          <a:prstGeom prst="roundRect">
            <a:avLst>
              <a:gd name="adj" fmla="val 1296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5065776"/>
            <a:ext cx="310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15568" y="5065776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 규모 · 알림 채널 · 원본 보관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37760" y="5065776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목표와 개인정보 정책의 전제값입니다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716768" y="517550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16768" y="517550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" y="5632704"/>
            <a:ext cx="110642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5632704"/>
            <a:ext cx="310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115568" y="5632704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 · My Data 동의 범위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37760" y="5632704"/>
            <a:ext cx="5669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선행 조건입니다. 1차 진행은 막지 않습니다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716768" y="574243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716768" y="574243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법무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8640" y="6272784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2번은 가격 협상보다 먼저 확인합니다. 부정으로 나오면 계획을 다시 짜야 합니다.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384280" y="63550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2588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E3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약관은 넣어두면 답하지 않습니다.</a:t>
            </a:r>
            <a:endParaRPr lang="en-US" sz="3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고객별로 넣어두면, 그 고객의 보장을 언제든 답합니다.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4023360"/>
            <a:ext cx="3291840" cy="0"/>
          </a:xfrm>
          <a:prstGeom prst="line">
            <a:avLst/>
          </a:prstGeom>
          <a:noFill/>
          <a:ln w="25400">
            <a:solidFill>
              <a:srgbClr val="14A0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160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E3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1차에 여는 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C7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스코프 확정 · 면책 우선 답변 · 약관북 · 확보 요청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4023360"/>
            <a:ext cx="3291840" cy="0"/>
          </a:xfrm>
          <a:prstGeom prst="line">
            <a:avLst/>
          </a:prstGeom>
          <a:noFill/>
          <a:ln w="25400">
            <a:solidFill>
              <a:srgbClr val="14A0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4160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E3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1차에 안 여는 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34840" y="44805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C7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Data · 보장분석 · 금액 답변 — 전부 2차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4023360"/>
            <a:ext cx="3291840" cy="0"/>
          </a:xfrm>
          <a:prstGeom prst="line">
            <a:avLst/>
          </a:prstGeom>
          <a:noFill/>
          <a:ln w="25400">
            <a:solidFill>
              <a:srgbClr val="14A0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4160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E3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기준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0" y="44805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9C7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선배에게 묻는 것보다 나은가. 근거 조항이 그 답을 만듭니다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아이에프에이 AX팀 · 화면 속 고객명과 대화는 가상이며 상품명은 시드 데이터 기준입니다.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AI 상담 화면 설계</dc:title>
  <dc:subject>PptxGenJS Presentation</dc:subject>
  <dc:creator>iFA AX팀</dc:creator>
  <cp:lastModifiedBy>iFA AX팀</cp:lastModifiedBy>
  <cp:revision>1</cp:revision>
  <dcterms:created xsi:type="dcterms:W3CDTF">2026-08-14T05:47:12Z</dcterms:created>
  <dcterms:modified xsi:type="dcterms:W3CDTF">2026-08-14T05:47:12Z</dcterms:modified>
</cp:coreProperties>
</file>