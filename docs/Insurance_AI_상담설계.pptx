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0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691640"/>
            <a:ext cx="548640" cy="548640"/>
          </a:xfrm>
          <a:prstGeom prst="roundRect">
            <a:avLst>
              <a:gd name="adj" fmla="val 23333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691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517904" y="171907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Insurance AI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517904" y="1984248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BB0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Better decisions, clearly.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22960" y="265176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 보험 상담 AI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화면 설계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859536" y="443484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8FE3B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10월 1일 오픈 · 1차 범위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859536" y="4956048"/>
            <a:ext cx="2011680" cy="0"/>
          </a:xfrm>
          <a:prstGeom prst="line">
            <a:avLst/>
          </a:prstGeom>
          <a:noFill/>
          <a:ln w="38100">
            <a:solidFill>
              <a:srgbClr val="14A0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9536" y="5175504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F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 아이에프에이 AX팀 · 2026.08.14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플로우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진행됩니다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11556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1일 버전 기준. 화면 순서대로 보시면 됩니다.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2011680" cy="22860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4A0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98448" y="2084832"/>
            <a:ext cx="512064" cy="512064"/>
          </a:xfrm>
          <a:prstGeom prst="ellipse">
            <a:avLst/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8448" y="20848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94944" y="2761488"/>
            <a:ext cx="1719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답변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94944" y="3108960"/>
            <a:ext cx="17190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골절되면 보상되나요?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94944" y="3602736"/>
            <a:ext cx="1719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일반지식으로 먼저 답합니다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578608" y="2880360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98064" y="1874520"/>
            <a:ext cx="2011680" cy="22860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47872" y="2084832"/>
            <a:ext cx="512064" cy="512064"/>
          </a:xfrm>
          <a:prstGeom prst="ellipse">
            <a:avLst/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47872" y="20848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944368" y="2761488"/>
            <a:ext cx="1719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등록하기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944368" y="3108960"/>
            <a:ext cx="17190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보험사 → 상품 → 약관 시점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944368" y="3602736"/>
            <a:ext cx="1719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가입한 상품을 짚어냅니다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28032" y="2880360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47488" y="1874520"/>
            <a:ext cx="2011680" cy="22860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97296" y="2084832"/>
            <a:ext cx="512064" cy="512064"/>
          </a:xfrm>
          <a:prstGeom prst="ellipse">
            <a:avLst/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97296" y="20848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193792" y="2761488"/>
            <a:ext cx="1719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193792" y="3108960"/>
            <a:ext cx="17190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먼저 · 근거 조항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193792" y="3602736"/>
            <a:ext cx="1719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약관인지 함께 표시합니다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077456" y="2880360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296912" y="1874520"/>
            <a:ext cx="2011680" cy="22860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46720" y="2084832"/>
            <a:ext cx="512064" cy="512064"/>
          </a:xfrm>
          <a:prstGeom prst="ellipse">
            <a:avLst/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0" y="20848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7443216" y="2761488"/>
            <a:ext cx="1719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약관북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443216" y="3108960"/>
            <a:ext cx="17190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폴더에 쌓임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443216" y="3602736"/>
            <a:ext cx="1719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고객 약관 안에서만 답합니다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326880" y="2880360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9546336" y="1874520"/>
            <a:ext cx="2011680" cy="22860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296144" y="2084832"/>
            <a:ext cx="512064" cy="512064"/>
          </a:xfrm>
          <a:prstGeom prst="ellipse">
            <a:avLst/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296144" y="20848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9692640" y="2761488"/>
            <a:ext cx="1719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등록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9692640" y="3108960"/>
            <a:ext cx="17190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추가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692640" y="3602736"/>
            <a:ext cx="1719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My Data가 열리면 한 번에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48640" y="4443984"/>
            <a:ext cx="11064240" cy="841248"/>
          </a:xfrm>
          <a:prstGeom prst="roundRect">
            <a:avLst>
              <a:gd name="adj" fmla="val 9783"/>
            </a:avLst>
          </a:prstGeom>
          <a:solidFill>
            <a:srgbClr val="F3FAF6"/>
          </a:solidFill>
          <a:ln w="12700">
            <a:solidFill>
              <a:srgbClr val="CFE9D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2960" y="455371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①에서 「이 답변으로 충분해요」로 끝낼 수 있습니다. 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대부분의 상담은 한 건 확인하고 끝납니다.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정확히 봐야 할 때만 「약관 등록하기」로 ②에 들어갑니다 — 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만들지 않아도 됩니다.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48640" y="5449824"/>
            <a:ext cx="11064240" cy="932688"/>
          </a:xfrm>
          <a:prstGeom prst="roundRect">
            <a:avLst>
              <a:gd name="adj" fmla="val 8824"/>
            </a:avLst>
          </a:prstGeom>
          <a:solidFill>
            <a:srgbClr val="14201B"/>
          </a:solidFill>
          <a:ln w="12700">
            <a:solidFill>
              <a:srgbClr val="14201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68680" y="5559552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E3B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10/1 버전입니다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3931920" y="5559552"/>
            <a:ext cx="7406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C7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버전에서는 My Data가 붙어 계약이 한 번에 들어오고, 보장분석이 결합되면 「얼마 나와요?」까지 답합니다. 지금 구조를 바꾸지 않고 얹는 방식입니다.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11384280" y="651052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① 일반 답변  ·  1/2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20624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일반으로 답하고, 개인화는 고르게 합니다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11247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「골절되면 보상되나요?」는 일반지식만으로 답이 나옵니다. 여기서 「이 답변으로 충분해요」로 끝내거나 「약관 등록하기」로 넘어갑니다.</a:t>
            </a:r>
            <a:endParaRPr lang="en-US" sz="1150" dirty="0"/>
          </a:p>
        </p:txBody>
      </p:sp>
      <p:pic>
        <p:nvPicPr>
          <p:cNvPr id="5" name="Image 0" descr="/tmp/claude-0/-home-user-chacha6377/ca7f6080-cf3a-5093-8a0d-eb3bfdb80785/scratchpad/app_branch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54930"/>
            <a:ext cx="11247120" cy="47858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6035040"/>
            <a:ext cx="54864" cy="457200"/>
          </a:xfrm>
          <a:prstGeom prst="roundRect">
            <a:avLst>
              <a:gd name="adj" fmla="val 50000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60350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걸릴 수 있는 담보를 넓게 열거합니다 — 좁게 잡으면 청구를 놓칩니다.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11384280" y="651052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① 일반 답변  ·  2/2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20624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일반으로 답하고, 개인화는 고르게 합니다</a:t>
            </a:r>
            <a:endParaRPr lang="en-US" sz="2000" dirty="0"/>
          </a:p>
        </p:txBody>
      </p:sp>
      <p:pic>
        <p:nvPicPr>
          <p:cNvPr id="4" name="Image 0" descr="/tmp/claude-0/-home-user-chacha6377/ca7f6080-cf3a-5093-8a0d-eb3bfdb80785/scratchpad/app_branch_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4346"/>
            <a:ext cx="11247120" cy="47858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6035040"/>
            <a:ext cx="54864" cy="457200"/>
          </a:xfrm>
          <a:prstGeom prst="roundRect">
            <a:avLst>
              <a:gd name="adj" fmla="val 50000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60350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「이 답변으로 충분해요」를 같은 무게로 둡니다. 일반 답변은 실패가 아닙니다.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11384280" y="651052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② 약관 짚어내기  ·  1/3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20624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대화하면서 정확한 상품을 짚어냅니다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11247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별도 화면으로 빠지지 않습니다. 챗봇이므로 AI가 묻고 FA가 고르는 것이 곧 대화입니다.</a:t>
            </a:r>
            <a:endParaRPr lang="en-US" sz="1150" dirty="0"/>
          </a:p>
        </p:txBody>
      </p:sp>
      <p:pic>
        <p:nvPicPr>
          <p:cNvPr id="5" name="Image 0" descr="/tmp/claude-0/-home-user-chacha6377/ca7f6080-cf3a-5093-8a0d-eb3bfdb80785/scratchpad/app_scope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54930"/>
            <a:ext cx="11247120" cy="47858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6035040"/>
            <a:ext cx="54864" cy="457200"/>
          </a:xfrm>
          <a:prstGeom prst="roundRect">
            <a:avLst>
              <a:gd name="adj" fmla="val 50000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60350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보험사를 묻고 칩으로 고릅니다. 고른 값은 사용자 말풍선으로 남습니다.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11384280" y="651052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② 약관 짚어내기  ·  2/3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20624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대화하면서 정확한 상품을 짚어냅니다</a:t>
            </a:r>
            <a:endParaRPr lang="en-US" sz="2000" dirty="0"/>
          </a:p>
        </p:txBody>
      </p:sp>
      <p:pic>
        <p:nvPicPr>
          <p:cNvPr id="4" name="Image 0" descr="/tmp/claude-0/-home-user-chacha6377/ca7f6080-cf3a-5093-8a0d-eb3bfdb80785/scratchpad/app_scope_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4346"/>
            <a:ext cx="11247120" cy="47858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6035040"/>
            <a:ext cx="54864" cy="457200"/>
          </a:xfrm>
          <a:prstGeom prst="roundRect">
            <a:avLst>
              <a:gd name="adj" fmla="val 50000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60350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보종은 묻지 않습니다. 상품명을 치면 매칭되고, 겹치는 상품을 나란히 놓습니다.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11384280" y="651052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② 약관 짚어내기  ·  3/3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20624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대화하면서 정확한 상품을 짚어냅니다</a:t>
            </a:r>
            <a:endParaRPr lang="en-US" sz="2000" dirty="0"/>
          </a:p>
        </p:txBody>
      </p:sp>
      <p:pic>
        <p:nvPicPr>
          <p:cNvPr id="4" name="Image 0" descr="/tmp/claude-0/-home-user-chacha6377/ca7f6080-cf3a-5093-8a0d-eb3bfdb80785/scratchpad/app_scope_p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4346"/>
            <a:ext cx="11247120" cy="47858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6035040"/>
            <a:ext cx="54864" cy="457200"/>
          </a:xfrm>
          <a:prstGeom prst="roundRect">
            <a:avLst>
              <a:gd name="adj" fmla="val 50000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60350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「보상은 가입 시점의 약관을 따릅니다」 — 왜 묻는지를 함께 말합니다.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11384280" y="651052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③ 답변  ·  1/3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20624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면책을 먼저 판정하고 조항으로 근거를 답니다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11247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만들지 않고 그냥 묻는 경로입니다. 대부분의 상담이 여기서 끝납니다.</a:t>
            </a:r>
            <a:endParaRPr lang="en-US" sz="1150" dirty="0"/>
          </a:p>
        </p:txBody>
      </p:sp>
      <p:pic>
        <p:nvPicPr>
          <p:cNvPr id="5" name="Image 0" descr="/tmp/claude-0/-home-user-chacha6377/ca7f6080-cf3a-5093-8a0d-eb3bfdb80785/scratchpad/app_ask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54930"/>
            <a:ext cx="11247120" cy="47858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6035040"/>
            <a:ext cx="54864" cy="457200"/>
          </a:xfrm>
          <a:prstGeom prst="roundRect">
            <a:avLst>
              <a:gd name="adj" fmla="val 50000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60350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전에는 되물어 좁힙니다 — 보험사 → 상품 → 가입 시점.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11384280" y="651052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③ 답변  ·  2/3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20624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면책을 먼저 판정하고 조항으로 근거를 답니다</a:t>
            </a:r>
            <a:endParaRPr lang="en-US" sz="2000" dirty="0"/>
          </a:p>
        </p:txBody>
      </p:sp>
      <p:pic>
        <p:nvPicPr>
          <p:cNvPr id="4" name="Image 0" descr="/tmp/claude-0/-home-user-chacha6377/ca7f6080-cf3a-5093-8a0d-eb3bfdb80785/scratchpad/app_ask_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4346"/>
            <a:ext cx="11247120" cy="47858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6035040"/>
            <a:ext cx="54864" cy="457200"/>
          </a:xfrm>
          <a:prstGeom prst="roundRect">
            <a:avLst>
              <a:gd name="adj" fmla="val 50000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60350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면책을 맨 위에 놓고 조항 위치까지 답니다. 어느 약관인지 하단에 항상 표시합니다.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11384280" y="651052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③ 답변  ·  3/3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20624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면책을 먼저 판정하고 조항으로 근거를 답니다</a:t>
            </a:r>
            <a:endParaRPr lang="en-US" sz="2000" dirty="0"/>
          </a:p>
        </p:txBody>
      </p:sp>
      <p:pic>
        <p:nvPicPr>
          <p:cNvPr id="4" name="Image 0" descr="/tmp/claude-0/-home-user-chacha6377/ca7f6080-cf3a-5093-8a0d-eb3bfdb80785/scratchpad/app_ask_p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4346"/>
            <a:ext cx="11247120" cy="47858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384280" y="651052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④ 약관북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20624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폴더를 열면 질문 범위가 그 고객으로 잠깁니다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11247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화면이 차별점의 실체입니다. 상담할수록 고객별 약관이 쌓입니다.</a:t>
            </a:r>
            <a:endParaRPr lang="en-US" sz="1150" dirty="0"/>
          </a:p>
        </p:txBody>
      </p:sp>
      <p:pic>
        <p:nvPicPr>
          <p:cNvPr id="5" name="Image 0" descr="/tmp/claude-0/-home-user-chacha6377/ca7f6080-cf3a-5093-8a0d-eb3bfdb80785/scratchpad/app_entry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9354" y="1097280"/>
            <a:ext cx="8902813" cy="4901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6035040"/>
            <a:ext cx="54864" cy="457200"/>
          </a:xfrm>
          <a:prstGeom prst="roundRect">
            <a:avLst>
              <a:gd name="adj" fmla="val 50000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60350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고객 약관 안에서만 찾습니다. 담보가 여러 계약에 걸치면 모두 보여줍니다.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11384280" y="651052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⑤ 약관 등록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20624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하나씩. My Data가 열리면 한 번에 들어옵니다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11247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열린 경로도 화면에 두되 잠급니다 — 곧 열릴 길이 있다는 사실 자체가 안내입니다.</a:t>
            </a:r>
            <a:endParaRPr lang="en-US" sz="1150" dirty="0"/>
          </a:p>
        </p:txBody>
      </p:sp>
      <p:pic>
        <p:nvPicPr>
          <p:cNvPr id="5" name="Image 0" descr="/tmp/claude-0/-home-user-chacha6377/ca7f6080-cf3a-5093-8a0d-eb3bfdb80785/scratchpad/app_register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9354" y="1097280"/>
            <a:ext cx="8902813" cy="4901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6035040"/>
            <a:ext cx="54864" cy="457200"/>
          </a:xfrm>
          <a:prstGeom prst="roundRect">
            <a:avLst>
              <a:gd name="adj" fmla="val 50000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60350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「최근 등록한 상품」은 뺐습니다 — 다른 고객 계약을 끌어오게 됩니다.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11384280" y="651052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⑥ 보장맵  ·  1/2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20624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약관이 담보로 펼쳐지되, 가입 여부는 따로입니다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11247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약관은 가입 「가능한」 담보의 목록일 뿐입니다. 기본값은 「확인 필요」입니다.</a:t>
            </a:r>
            <a:endParaRPr lang="en-US" sz="1150" dirty="0"/>
          </a:p>
        </p:txBody>
      </p:sp>
      <p:pic>
        <p:nvPicPr>
          <p:cNvPr id="5" name="Image 0" descr="/tmp/claude-0/-home-user-chacha6377/ca7f6080-cf3a-5093-8a0d-eb3bfdb80785/scratchpad/app_coverage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54930"/>
            <a:ext cx="11247120" cy="47858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6035040"/>
            <a:ext cx="54864" cy="457200"/>
          </a:xfrm>
          <a:prstGeom prst="roundRect">
            <a:avLst>
              <a:gd name="adj" fmla="val 50000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60350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「미가입」은 확인된 사실이고 「확인 필요」는 아직 모르는 것입니다.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11384280" y="651052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⑥ 보장맵  ·  2/2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20624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약관이 담보로 펼쳐지되, 가입 여부는 따로입니다</a:t>
            </a:r>
            <a:endParaRPr lang="en-US" sz="2000" dirty="0"/>
          </a:p>
        </p:txBody>
      </p:sp>
      <p:pic>
        <p:nvPicPr>
          <p:cNvPr id="4" name="Image 0" descr="/tmp/claude-0/-home-user-chacha6377/ca7f6080-cf3a-5093-8a0d-eb3bfdb80785/scratchpad/app_coverage_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4346"/>
            <a:ext cx="11247120" cy="47858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6035040"/>
            <a:ext cx="54864" cy="457200"/>
          </a:xfrm>
          <a:prstGeom prst="roundRect">
            <a:avLst>
              <a:gd name="adj" fmla="val 50000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60350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· 미가입 · 확인 필요 건도 숨기지 않고 사유와 함께 남깁니다.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11384280" y="651052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0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8016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E3B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173736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1일은 시작입니다.</a:t>
            </a:r>
            <a:endParaRPr lang="en-US" sz="3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구조 위에 계속 얹습니다.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3931920"/>
            <a:ext cx="3291840" cy="0"/>
          </a:xfrm>
          <a:prstGeom prst="line">
            <a:avLst/>
          </a:prstGeom>
          <a:noFill/>
          <a:ln w="31750">
            <a:solidFill>
              <a:srgbClr val="14A0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059936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4A0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· 10월 1일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433425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약관을 직접 짚어 답합니다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4681728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9BA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보험사 → 상품 → 약관 시점을 고르고, 그 약관 안에서만 답합니다. 고객 폴더에 쌓입니다.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34840" y="3931920"/>
            <a:ext cx="3291840" cy="0"/>
          </a:xfrm>
          <a:prstGeom prst="line">
            <a:avLst/>
          </a:prstGeom>
          <a:noFill/>
          <a:ln w="31750">
            <a:solidFill>
              <a:srgbClr val="4E8F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4059936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4E8F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· My Data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434840" y="433425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고르지 않아도 됩니다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434840" y="4681728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9BA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계약이 한 번에 들어와 약관이 자동으로 정해집니다. 클릭이 사라집니다.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46720" y="3931920"/>
            <a:ext cx="3291840" cy="0"/>
          </a:xfrm>
          <a:prstGeom prst="line">
            <a:avLst/>
          </a:prstGeom>
          <a:noFill/>
          <a:ln w="31750">
            <a:solidFill>
              <a:srgbClr val="C9A56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0" y="4059936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A56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 · 보장분석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046720" y="433425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「얼마 나와요?」에 답합니다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046720" y="4681728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9BA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담보와 금액이 붙어 보장공백 · 비교까지 갑니다.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6126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 아이에프에이 AX팀 · 화면 속 고객명과 대화는 가상입니다.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Insurance AI 상담 화면 설계</dc:title>
  <dc:subject>PptxGenJS Presentation</dc:subject>
  <dc:creator>iFA AX팀</dc:creator>
  <cp:lastModifiedBy>iFA AX팀</cp:lastModifiedBy>
  <cp:revision>1</cp:revision>
  <dcterms:created xsi:type="dcterms:W3CDTF">2026-08-14T06:46:25Z</dcterms:created>
  <dcterms:modified xsi:type="dcterms:W3CDTF">2026-08-14T06:46:25Z</dcterms:modified>
</cp:coreProperties>
</file>